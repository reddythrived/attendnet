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557808"/>
            <a:ext cx="16952976" cy="172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AttendNet: Facial Recognition Attendance System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667512" y="2249289"/>
            <a:ext cx="16952976" cy="8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Learning, Artificial Intelligence,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667512" y="3095030"/>
            <a:ext cx="16952976" cy="8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and Deep Learning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5755920" y="4093171"/>
            <a:ext cx="6776061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PRESENTATION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8224044" y="5109171"/>
            <a:ext cx="183991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(Team – 36)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3725863" y="6131521"/>
            <a:ext cx="555635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725863" y="6620470"/>
            <a:ext cx="5556359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P THRIVED REDDY (23BTRCL046)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725863" y="7138591"/>
            <a:ext cx="5556359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LEELA KRISHNA (23BTRCL017)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725863" y="7656711"/>
            <a:ext cx="5556359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 NANDA SAI (23BTRCL042)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725863" y="8174831"/>
            <a:ext cx="5556359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ARAVIND REDDY (23BTRCL203)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725863" y="8692952"/>
            <a:ext cx="5556359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 SAI KRISHNA (23BTRCL189)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3725863" y="9211072"/>
            <a:ext cx="5556359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SAINATH REDDY (23BTRCL213)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263386" y="6131521"/>
            <a:ext cx="442761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of: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263386" y="6620470"/>
            <a:ext cx="4427612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SG" sz="2800" dirty="0"/>
              <a:t>Dr. Vairavel </a:t>
            </a:r>
            <a:r>
              <a:rPr lang="en-SG" sz="2800" dirty="0" err="1"/>
              <a:t>Chenniyappan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263386" y="7138591"/>
            <a:ext cx="4427612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 – AIML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263386" y="7656711"/>
            <a:ext cx="4427612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JAIN (Deemed-to-be University)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263386" y="8174831"/>
            <a:ext cx="4427612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Bengaluru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263386" y="8692952"/>
            <a:ext cx="4427612" cy="55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PCL Phase 2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57250" y="1993900"/>
            <a:ext cx="7886700" cy="3971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2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 (AttendNet AI)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3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4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Algorithms Used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5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63100" y="1993900"/>
            <a:ext cx="7886700" cy="3150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Existing Models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2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AttendNet?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3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300" dirty="0"/>
          </a:p>
          <a:p>
            <a:pPr marL="628650" indent="-628650" algn="l">
              <a:lnSpc>
                <a:spcPct val="155000"/>
              </a:lnSpc>
              <a:buSzPct val="100000"/>
              <a:buFont typeface="+mj-lt"/>
              <a:buAutoNum type="arabicPeriod" startAt="4"/>
              <a:tabLst>
                <a:tab pos="628650" algn="l"/>
              </a:tabLst>
            </a:pPr>
            <a:r>
              <a:rPr lang="en-US" sz="3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122045" y="1993900"/>
            <a:ext cx="16729901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Roll Call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wastes 5–10 minutes per class, burdens teachers, and is easy to manipulate.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22045" y="3517900"/>
            <a:ext cx="16729901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Biometric Systems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 physical contact — costly, unhygienic, and prone to hardware failure.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22045" y="50419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RFID / ID Cards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be shared between students to fake attendance.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22045" y="59086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Proxy Attendance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friends mark absent peers as present, damaging academic integrity.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22045" y="6775450"/>
            <a:ext cx="16729901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Real-time View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current tools cannot track live patterns or alert when attendance drops low.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2045" y="82994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Records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manual data leads to errors, loss, and no digital analysis capability.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— ATTENDNET AI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122045" y="19939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  <a:tabLst>
                <a:tab pos="306705" algn="l"/>
              </a:tabLst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contactless, real-time multi-face recognition system built for modern classrooms.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22045" y="28606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Multi-Face, Real-Time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and recognition from a standard webcam feed.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22045" y="37274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Metric Learning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used for generating discriminative face embeddings.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22045" y="459422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Validation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attendance is only marked after continuous face presence.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22045" y="54610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 Logging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attendance into digital records — no manual entry required.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2045" y="63277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CPU-Only Deployment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no GPU required; works on any laptop.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122045" y="71945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Dashboard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real-time visibility and administration.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122045" y="806132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  <a:tabLst>
                <a:tab pos="306705" algn="l"/>
              </a:tabLst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specialized hardware — runs with just a laptop webcam.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914400" y="1993900"/>
            <a:ext cx="1695297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Recognition Pipeline: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0125" y="2540000"/>
            <a:ext cx="7791450" cy="243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485775" indent="-485775" algn="l">
              <a:lnSpc>
                <a:spcPct val="145000"/>
              </a:lnSpc>
              <a:buSzPct val="100000"/>
              <a:buFont typeface="+mj-lt"/>
              <a:buAutoNum type="arabicPeriod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Capture</a:t>
            </a:r>
            <a:endParaRPr lang="en-US" sz="2550" dirty="0"/>
          </a:p>
          <a:p>
            <a:pPr marL="485775" indent="-485775" algn="l">
              <a:lnSpc>
                <a:spcPct val="145000"/>
              </a:lnSpc>
              <a:buSzPct val="100000"/>
              <a:buFont typeface="+mj-lt"/>
              <a:buAutoNum type="arabicPeriod" startAt="2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Preprocess</a:t>
            </a:r>
            <a:endParaRPr lang="en-US" sz="2550" dirty="0"/>
          </a:p>
          <a:p>
            <a:pPr marL="485775" indent="-485775" algn="l">
              <a:lnSpc>
                <a:spcPct val="145000"/>
              </a:lnSpc>
              <a:buSzPct val="100000"/>
              <a:buFont typeface="+mj-lt"/>
              <a:buAutoNum type="arabicPeriod" startAt="3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 Detection</a:t>
            </a:r>
            <a:endParaRPr lang="en-US" sz="2550" dirty="0"/>
          </a:p>
          <a:p>
            <a:pPr marL="485775" indent="-485775" algn="l">
              <a:lnSpc>
                <a:spcPct val="145000"/>
              </a:lnSpc>
              <a:buSzPct val="100000"/>
              <a:buFont typeface="+mj-lt"/>
              <a:buAutoNum type="arabicPeriod" startAt="4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 Encoding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658350" y="2540000"/>
            <a:ext cx="7791450" cy="243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>
              <a:lnSpc>
                <a:spcPct val="145000"/>
              </a:lnSpc>
              <a:buSzPct val="100000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 Distance Match</a:t>
            </a:r>
            <a:endParaRPr lang="en-US" sz="2550" dirty="0"/>
          </a:p>
          <a:p>
            <a:pPr algn="l">
              <a:lnSpc>
                <a:spcPct val="145000"/>
              </a:lnSpc>
              <a:buSzPct val="100000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 Temporal Check</a:t>
            </a:r>
            <a:endParaRPr lang="en-US" sz="2550" dirty="0"/>
          </a:p>
          <a:p>
            <a:pPr algn="l">
              <a:lnSpc>
                <a:spcPct val="145000"/>
              </a:lnSpc>
              <a:buSzPct val="100000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  Log Attendance</a:t>
            </a:r>
            <a:endParaRPr lang="en-US" sz="2550" dirty="0"/>
          </a:p>
          <a:p>
            <a:pPr algn="l">
              <a:lnSpc>
                <a:spcPct val="145000"/>
              </a:lnSpc>
              <a:buSzPct val="100000"/>
              <a:tabLst>
                <a:tab pos="485775" algn="l"/>
              </a:tabLst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  Dashboard Update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5484813"/>
            <a:ext cx="16459200" cy="190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914400" y="5694363"/>
            <a:ext cx="1695297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Validation — Key Innovation: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15390" y="6221413"/>
            <a:ext cx="16636556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13360" indent="-213360" algn="l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each face, the system counts consecutive frames with a confirmed match (C).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5390" y="6872883"/>
            <a:ext cx="16636556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13360" indent="-213360" algn="l">
              <a:lnSpc>
                <a:spcPct val="145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Attendance is marked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C ≥ N (N = configurable threshold).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5390" y="7524354"/>
            <a:ext cx="16636556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13360" indent="-213360" algn="l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Eliminates false positives from motion blur, partial occlusions, and transient faces.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USED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122045" y="19939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HOG + dlib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fast face detection using Histogram of Oriented Gradients.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22045" y="28606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FaceNetResNet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generates 128-dimensional face embeddings.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22045" y="37274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Euclidean Distance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used for identity matching between embeddings.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22045" y="459422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LBPH (Local Binary Pattern Histograms)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lightweight backup recognizer.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22045" y="54610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and Median Filters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used for image preprocessing and noise reduction.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122045" y="19939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Tested on 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participants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natural classroom lighting.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22045" y="28606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Deployed on a 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CPU-only 8 GB RAM laptop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22045" y="37274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  <a:tabLst>
                <a:tab pos="306705" algn="l"/>
              </a:tabLst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strong performance across all standard recognition metrics.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4975225"/>
            <a:ext cx="3900488" cy="194945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071729" y="5318125"/>
            <a:ext cx="358582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96.3%</a:t>
            </a:r>
            <a:endParaRPr lang="en-US" sz="6150" dirty="0"/>
          </a:p>
        </p:txBody>
      </p:sp>
      <p:sp>
        <p:nvSpPr>
          <p:cNvPr id="9" name="Text 7"/>
          <p:cNvSpPr/>
          <p:nvPr/>
        </p:nvSpPr>
        <p:spPr>
          <a:xfrm>
            <a:off x="1071729" y="6232525"/>
            <a:ext cx="35858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00638" y="4975225"/>
            <a:ext cx="3900488" cy="194945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5257967" y="5318125"/>
            <a:ext cx="358582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96.9%</a:t>
            </a:r>
            <a:endParaRPr lang="en-US" sz="6150" dirty="0"/>
          </a:p>
        </p:txBody>
      </p:sp>
      <p:sp>
        <p:nvSpPr>
          <p:cNvPr id="12" name="Text 10"/>
          <p:cNvSpPr/>
          <p:nvPr/>
        </p:nvSpPr>
        <p:spPr>
          <a:xfrm>
            <a:off x="5257967" y="6232525"/>
            <a:ext cx="35858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286875" y="4975225"/>
            <a:ext cx="3900488" cy="194945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9444204" y="5318125"/>
            <a:ext cx="358582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95.0%</a:t>
            </a:r>
            <a:endParaRPr lang="en-US" sz="6150" dirty="0"/>
          </a:p>
        </p:txBody>
      </p:sp>
      <p:sp>
        <p:nvSpPr>
          <p:cNvPr id="15" name="Text 13"/>
          <p:cNvSpPr/>
          <p:nvPr/>
        </p:nvSpPr>
        <p:spPr>
          <a:xfrm>
            <a:off x="9444204" y="6232525"/>
            <a:ext cx="35858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473113" y="4975225"/>
            <a:ext cx="3900488" cy="194945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3630442" y="5318125"/>
            <a:ext cx="358582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95.6%</a:t>
            </a:r>
            <a:endParaRPr lang="en-US" sz="6150" dirty="0"/>
          </a:p>
        </p:txBody>
      </p:sp>
      <p:sp>
        <p:nvSpPr>
          <p:cNvPr id="18" name="Text 16"/>
          <p:cNvSpPr/>
          <p:nvPr/>
        </p:nvSpPr>
        <p:spPr>
          <a:xfrm>
            <a:off x="13630442" y="6232525"/>
            <a:ext cx="35858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F1-Score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ATTENDNET COMPARES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920750" y="2095500"/>
            <a:ext cx="3289300" cy="654050"/>
          </a:xfrm>
          <a:prstGeom prst="rect">
            <a:avLst/>
          </a:prstGeom>
          <a:solidFill>
            <a:srgbClr val="D9E2F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085850" y="2241550"/>
            <a:ext cx="30577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4210050" y="2095500"/>
            <a:ext cx="2302470" cy="654050"/>
          </a:xfrm>
          <a:prstGeom prst="rect">
            <a:avLst/>
          </a:prstGeom>
          <a:solidFill>
            <a:srgbClr val="D9E2F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375150" y="2241550"/>
            <a:ext cx="20484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2521" y="2095500"/>
            <a:ext cx="2302470" cy="654050"/>
          </a:xfrm>
          <a:prstGeom prst="rect">
            <a:avLst/>
          </a:prstGeom>
          <a:solidFill>
            <a:srgbClr val="D9E2F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677620" y="2241550"/>
            <a:ext cx="20484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814991" y="2095500"/>
            <a:ext cx="8552259" cy="654050"/>
          </a:xfrm>
          <a:prstGeom prst="rect">
            <a:avLst/>
          </a:prstGeom>
          <a:solidFill>
            <a:srgbClr val="D9E2F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8980091" y="2241550"/>
            <a:ext cx="847862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20750" y="2749550"/>
            <a:ext cx="3289300" cy="7112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085850" y="2895600"/>
            <a:ext cx="30577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AttendNet ★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210050" y="2749550"/>
            <a:ext cx="2302470" cy="7112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375150" y="2895600"/>
            <a:ext cx="20484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96.3%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512521" y="2749550"/>
            <a:ext cx="2302470" cy="7112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677620" y="2895600"/>
            <a:ext cx="20484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95.6%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8814991" y="2749550"/>
            <a:ext cx="8552259" cy="7112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8980091" y="2895600"/>
            <a:ext cx="84786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Real-time, CPU-only, temporal validation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20750" y="3460750"/>
            <a:ext cx="3289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085850" y="3606800"/>
            <a:ext cx="3057779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FaceNet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4210050" y="3460750"/>
            <a:ext cx="230247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375150" y="3606800"/>
            <a:ext cx="20484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97.2%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6512521" y="3460750"/>
            <a:ext cx="230247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677620" y="3606800"/>
            <a:ext cx="20484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96.4%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8814991" y="3460750"/>
            <a:ext cx="8552259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8980091" y="3606800"/>
            <a:ext cx="847862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Needs large dataset and high compute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20750" y="4108450"/>
            <a:ext cx="3289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1085850" y="4254500"/>
            <a:ext cx="3057779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DeepFace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4210050" y="4108450"/>
            <a:ext cx="230247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4375150" y="4254500"/>
            <a:ext cx="20484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96.4%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6512521" y="4108450"/>
            <a:ext cx="230247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6677620" y="4254500"/>
            <a:ext cx="20484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95.5%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8814991" y="4108450"/>
            <a:ext cx="8552259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8980091" y="4254500"/>
            <a:ext cx="847862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computation required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920750" y="4756150"/>
            <a:ext cx="3289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1085850" y="4902200"/>
            <a:ext cx="3057779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Haar + LBPH</a:t>
            </a:r>
            <a:endParaRPr lang="en-US" sz="2550" dirty="0"/>
          </a:p>
        </p:txBody>
      </p:sp>
      <p:sp>
        <p:nvSpPr>
          <p:cNvPr id="38" name="Shape 36"/>
          <p:cNvSpPr/>
          <p:nvPr/>
        </p:nvSpPr>
        <p:spPr>
          <a:xfrm>
            <a:off x="4210050" y="4756150"/>
            <a:ext cx="230247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4375150" y="4902200"/>
            <a:ext cx="20484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78.3%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6512521" y="4756150"/>
            <a:ext cx="230247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6677620" y="4902200"/>
            <a:ext cx="20484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77.8%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8814991" y="4756150"/>
            <a:ext cx="8552259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8980091" y="4902200"/>
            <a:ext cx="847862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Sensitive to lighting and pose</a:t>
            </a:r>
            <a:endParaRPr lang="en-US" sz="2550" dirty="0"/>
          </a:p>
        </p:txBody>
      </p:sp>
      <p:sp>
        <p:nvSpPr>
          <p:cNvPr id="44" name="Text 42"/>
          <p:cNvSpPr/>
          <p:nvPr/>
        </p:nvSpPr>
        <p:spPr>
          <a:xfrm>
            <a:off x="1175385" y="5791200"/>
            <a:ext cx="16274415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53365" indent="-253365" algn="l">
              <a:lnSpc>
                <a:spcPct val="150000"/>
              </a:lnSpc>
              <a:buSzPct val="100000"/>
              <a:buChar char="•"/>
              <a:tabLst>
                <a:tab pos="253365" algn="l"/>
              </a:tabLst>
            </a:pPr>
            <a:r>
              <a:rPr lang="en-US" sz="2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FaceNet edges ahead by +0.9%, but requires GPU and large datasets.</a:t>
            </a:r>
            <a:endParaRPr lang="en-US" sz="2850" dirty="0"/>
          </a:p>
          <a:p>
            <a:pPr marL="253365" indent="-253365" algn="l">
              <a:lnSpc>
                <a:spcPct val="150000"/>
              </a:lnSpc>
              <a:buSzPct val="100000"/>
              <a:buChar char="•"/>
              <a:tabLst>
                <a:tab pos="253365" algn="l"/>
              </a:tabLst>
            </a:pPr>
            <a:r>
              <a:rPr lang="en-US" sz="2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AttendNet runs on any laptop — making it far more practical for real classroom use.</a:t>
            </a:r>
            <a:endParaRPr lang="en-US" sz="2850" dirty="0"/>
          </a:p>
        </p:txBody>
      </p:sp>
      <p:sp>
        <p:nvSpPr>
          <p:cNvPr id="45" name="Text 43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ATTENDNET?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122045" y="1993900"/>
            <a:ext cx="16729901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More Proxy Attendance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face cannot be faked or shared; bulletproof identity check.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22045" y="35179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Class Time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attendance is marked in seconds with no interruption to lectures.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22045" y="43846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Special Hardware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any laptop with a webcam is all that is required.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22045" y="52514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Contactless and Safe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no fingerprints or cards; completely hygiene-friendly.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22045" y="611822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can be extended to cloud, ERP systems, or mobile platforms with ease.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2045" y="69850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Future-Ready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built for AI-powered smart classrooms of tomorrow.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7811552" y="9842500"/>
            <a:ext cx="17164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WHAT WE ACHIEVED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122045" y="19939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96.3% accuracy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CPU-only hardware.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22045" y="286067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validation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significantly cuts false positives.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22045" y="372745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Developed a 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web application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dashboard, login, and analytics.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22045" y="4594225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tested with 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students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natural classroom conditions.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22045" y="5461000"/>
            <a:ext cx="167299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06705" indent="-306705" algn="l">
              <a:lnSpc>
                <a:spcPct val="150000"/>
              </a:lnSpc>
              <a:buSzPct val="100000"/>
              <a:buChar char="•"/>
            </a:pP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a </a:t>
            </a: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contactless and classroom-ready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7716202" y="9842500"/>
            <a:ext cx="26699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66750"/>
            <a:ext cx="16952976" cy="8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5550" b="1" kern="0" spc="38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286750" y="1574800"/>
            <a:ext cx="1714500" cy="381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28675" y="1993900"/>
            <a:ext cx="17021556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657225" indent="-657225" algn="l">
              <a:lnSpc>
                <a:spcPct val="155000"/>
              </a:lnSpc>
              <a:buSzPct val="100000"/>
              <a:buFont typeface="+mj-lt"/>
              <a:buAutoNum type="arabicPeriod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Anti-Spoofing (Liveness Detection)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to prevent attacks using photos or videos.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28675" y="2844403"/>
            <a:ext cx="17021556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657225" indent="-657225" algn="l">
              <a:lnSpc>
                <a:spcPct val="155000"/>
              </a:lnSpc>
              <a:buSzPct val="100000"/>
              <a:buFont typeface="+mj-lt"/>
              <a:buAutoNum type="arabicPeriod" startAt="2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and ERP Integration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synchronize attendance across institutional systems.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828675" y="3694906"/>
            <a:ext cx="17021556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657225" indent="-657225" algn="l">
              <a:lnSpc>
                <a:spcPct val="155000"/>
              </a:lnSpc>
              <a:buSzPct val="100000"/>
              <a:buFont typeface="+mj-lt"/>
              <a:buAutoNum type="arabicPeriod" startAt="3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Deployment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run on Raspberry Pi / Jetson devices for classroom cameras.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828675" y="4545409"/>
            <a:ext cx="17021556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657225" indent="-657225" algn="l">
              <a:lnSpc>
                <a:spcPct val="155000"/>
              </a:lnSpc>
              <a:buSzPct val="100000"/>
              <a:buFont typeface="+mj-lt"/>
              <a:buAutoNum type="arabicPeriod" startAt="4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Biometric Authentication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for higher security.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828675" y="5395913"/>
            <a:ext cx="17021556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657225" indent="-657225" algn="l">
              <a:lnSpc>
                <a:spcPct val="155000"/>
              </a:lnSpc>
              <a:buSzPct val="100000"/>
              <a:buFont typeface="+mj-lt"/>
              <a:buAutoNum type="arabicPeriod" startAt="5"/>
            </a:pPr>
            <a:r>
              <a:rPr lang="en-US" sz="3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 Lighting Robustness </a:t>
            </a:r>
            <a:r>
              <a:rPr lang="en-US" sz="3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improve accuracy under poor lighting conditions.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7729002" y="9842500"/>
            <a:ext cx="25419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5775" y="2566392"/>
            <a:ext cx="8316450" cy="157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0" b="1" kern="0" spc="15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8096250" y="4388842"/>
            <a:ext cx="2095500" cy="4762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7247153" y="4817467"/>
            <a:ext cx="37936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24632" y="5827118"/>
            <a:ext cx="1063873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AttendNet AI · PCL Phase 2 · Team No. 36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824632" y="6375698"/>
            <a:ext cx="1063873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 – AIML · JAIN (Deemed-to-be University), Bengaluru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824632" y="6924279"/>
            <a:ext cx="1063873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>
              <a:lnSpc>
                <a:spcPct val="160000"/>
              </a:lnSpc>
            </a:pPr>
            <a:r>
              <a:rPr lang="en-US" sz="2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Dr. </a:t>
            </a:r>
            <a:r>
              <a:rPr lang="en-SG" sz="2800" dirty="0"/>
              <a:t>Vairavel </a:t>
            </a:r>
            <a:r>
              <a:rPr lang="en-SG" sz="2800" dirty="0" err="1"/>
              <a:t>Chenniyappan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818</Words>
  <Application>Microsoft Office PowerPoint</Application>
  <PresentationFormat>Custom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P Sreenidhi</cp:lastModifiedBy>
  <cp:revision>2</cp:revision>
  <dcterms:created xsi:type="dcterms:W3CDTF">2026-04-20T18:24:27Z</dcterms:created>
  <dcterms:modified xsi:type="dcterms:W3CDTF">2026-04-20T18:41:05Z</dcterms:modified>
</cp:coreProperties>
</file>